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Показатели</c:v>
                </c:pt>
              </c:strCache>
            </c:strRef>
          </c:tx>
          <c:spPr>
            <a:solidFill>
              <a:srgbClr val="86C39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Доля расходов
на сладости</c:v>
                </c:pt>
                <c:pt idx="1">
                  <c:v>Доля рынка
кондитерских изделий</c:v>
                </c:pt>
                <c:pt idx="2">
                  <c:v>Рост протеиновых
батончиков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67-0C4F-94F8-0921066AC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Кумулятивный поток, тыс ₽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M1</c:v>
                </c:pt>
                <c:pt idx="2">
                  <c:v>M3</c:v>
                </c:pt>
                <c:pt idx="4">
                  <c:v>M5</c:v>
                </c:pt>
                <c:pt idx="6">
                  <c:v>M7</c:v>
                </c:pt>
                <c:pt idx="8">
                  <c:v>M9</c:v>
                </c:pt>
                <c:pt idx="10">
                  <c:v>M11</c:v>
                </c:pt>
                <c:pt idx="12">
                  <c:v>M13</c:v>
                </c:pt>
                <c:pt idx="14">
                  <c:v>M15</c:v>
                </c:pt>
                <c:pt idx="16">
                  <c:v>M17</c:v>
                </c:pt>
                <c:pt idx="18">
                  <c:v>M19</c:v>
                </c:pt>
                <c:pt idx="20">
                  <c:v>M21</c:v>
                </c:pt>
                <c:pt idx="22">
                  <c:v>M23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-1251</c:v>
                </c:pt>
                <c:pt idx="1">
                  <c:v>-1291.3</c:v>
                </c:pt>
                <c:pt idx="2">
                  <c:v>-1320.8</c:v>
                </c:pt>
                <c:pt idx="3">
                  <c:v>-1339.6</c:v>
                </c:pt>
                <c:pt idx="4">
                  <c:v>-1347.6</c:v>
                </c:pt>
                <c:pt idx="5">
                  <c:v>-1344.9</c:v>
                </c:pt>
                <c:pt idx="6">
                  <c:v>-1331.5</c:v>
                </c:pt>
                <c:pt idx="7">
                  <c:v>-1307.3</c:v>
                </c:pt>
                <c:pt idx="8">
                  <c:v>-1272.4000000000001</c:v>
                </c:pt>
                <c:pt idx="9">
                  <c:v>-1226.7</c:v>
                </c:pt>
                <c:pt idx="10">
                  <c:v>-1170.3</c:v>
                </c:pt>
                <c:pt idx="11">
                  <c:v>-1103.2</c:v>
                </c:pt>
                <c:pt idx="12">
                  <c:v>-1025.3</c:v>
                </c:pt>
                <c:pt idx="13">
                  <c:v>-936.7</c:v>
                </c:pt>
                <c:pt idx="14">
                  <c:v>-837.4</c:v>
                </c:pt>
                <c:pt idx="15">
                  <c:v>-727.3</c:v>
                </c:pt>
                <c:pt idx="16">
                  <c:v>-606.5</c:v>
                </c:pt>
                <c:pt idx="17">
                  <c:v>-474.9</c:v>
                </c:pt>
                <c:pt idx="18">
                  <c:v>-332.6</c:v>
                </c:pt>
                <c:pt idx="19">
                  <c:v>-179.6</c:v>
                </c:pt>
                <c:pt idx="20">
                  <c:v>-15.8</c:v>
                </c:pt>
                <c:pt idx="21">
                  <c:v>158.69999999999999</c:v>
                </c:pt>
                <c:pt idx="22">
                  <c:v>344</c:v>
                </c:pt>
                <c:pt idx="23">
                  <c:v>540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6F-7E47-AC35-13B5FB486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"/>
          <c:min val="-16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01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30A18"/>
                </a:solidFill>
              </a:rPr>
              <a:t>For you sweet</a:t>
            </a:r>
            <a:endParaRPr lang="en-US" sz="3600" dirty="0"/>
          </a:p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</a:rPr>
              <a:t>Бизнес‑план персонализированных десертов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</a:rPr>
              <a:t>Группа 15.27Д‑БИ09/22б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</a:rPr>
              <a:t>Нетиевский И.С.</a:t>
            </a:r>
            <a:endParaRPr lang="en-US" sz="3600" dirty="0"/>
          </a:p>
        </p:txBody>
      </p:sp>
      <p:pic>
        <p:nvPicPr>
          <p:cNvPr id="4" name="Image 0" descr="/home/oai/share/57bebf75-df35-4fc8-95b5-4d39741347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34401"/>
            <a:ext cx="4009558" cy="3960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Тренды рынка полезных десертов</a:t>
            </a:r>
            <a:endParaRPr lang="en-US" sz="2400" dirty="0"/>
          </a:p>
        </p:txBody>
      </p:sp>
      <p:pic>
        <p:nvPicPr>
          <p:cNvPr id="3" name="Image 0" descr="/home/oai/share/be894a1a-4371-4884-bec9-7a9de29661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439" y="1003609"/>
            <a:ext cx="3437053" cy="27134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9144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• Рост интереса к ЗОЖ: натуральные ингредиенты, отсутствие сахара и глютена
</a:t>
            </a:r>
            <a:r>
              <a:rPr lang="en-US" sz="1400" dirty="0">
                <a:solidFill>
                  <a:srgbClr val="030A18"/>
                </a:solidFill>
              </a:rPr>
              <a:t>• Веганские и кето‑сладости: десерты без ингредиентов животного происхождения
• Персонализация и бенто‑торты: уникальный дизайн и вкус под заказ
• Цифровые технологии: 3D‑печать и онлайн‑заказы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Рынок и возможности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00584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937760" y="10972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• Категория сладостей занимает ~9 % потребительских расходов, 
</a:t>
            </a:r>
            <a:r>
              <a:rPr lang="en-US" sz="1200" dirty="0">
                <a:solidFill>
                  <a:srgbClr val="030A18"/>
                </a:solidFill>
              </a:rPr>
              <a:t>при этом на сладости тратят около 5 % бюджета
• Рынок трансформируется: протеиновые батончики и сухофрукты растут &gt;25 % в год
• Возможности: здоровое питание, персонализация, омниканальные продажи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Анализ конкурентов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292608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3931920"/>
            <a:ext cx="45720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0" cy="29260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030"/>
                </a:solidFill>
              </a:rPr>
              <a:t>Персонализация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 rot="-5400000">
            <a:off x="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030"/>
                </a:solidFill>
              </a:rPr>
              <a:t>Цена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1005840"/>
            <a:ext cx="0" cy="29260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3346704"/>
            <a:ext cx="4572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286000" y="1005840"/>
            <a:ext cx="0" cy="29260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4572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0" cy="29260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4572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114800" y="1005840"/>
            <a:ext cx="0" cy="29260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1591056"/>
            <a:ext cx="4572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823460" y="2263140"/>
            <a:ext cx="411480" cy="411480"/>
          </a:xfrm>
          <a:prstGeom prst="ellipse">
            <a:avLst/>
          </a:prstGeom>
          <a:solidFill>
            <a:srgbClr val="86C391"/>
          </a:solidFill>
          <a:ln w="12700">
            <a:solidFill>
              <a:srgbClr val="86C3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62372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</a:rPr>
              <a:t>For you sweet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54780" y="1431036"/>
            <a:ext cx="320040" cy="320040"/>
          </a:xfrm>
          <a:prstGeom prst="ellipse">
            <a:avLst/>
          </a:prstGeom>
          <a:solidFill>
            <a:srgbClr val="72A0C1"/>
          </a:solidFill>
          <a:ln w="12700">
            <a:solidFill>
              <a:srgbClr val="72A0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302252" y="1545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</a:rPr>
              <a:t>СладкоПолезно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20140" y="2802636"/>
            <a:ext cx="502920" cy="502920"/>
          </a:xfrm>
          <a:prstGeom prst="ellipse">
            <a:avLst/>
          </a:prstGeom>
          <a:solidFill>
            <a:srgbClr val="F5B759"/>
          </a:solidFill>
          <a:ln w="12700">
            <a:solidFill>
              <a:srgbClr val="F5B7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650492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</a:rPr>
              <a:t>Wildberries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20140" y="2510028"/>
            <a:ext cx="502920" cy="502920"/>
          </a:xfrm>
          <a:prstGeom prst="ellipse">
            <a:avLst/>
          </a:prstGeom>
          <a:solidFill>
            <a:srgbClr val="F09199"/>
          </a:solidFill>
          <a:ln w="12700">
            <a:solidFill>
              <a:srgbClr val="F09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650492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</a:rPr>
              <a:t>Ozon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57700" y="1769364"/>
            <a:ext cx="228600" cy="228600"/>
          </a:xfrm>
          <a:prstGeom prst="ellipse">
            <a:avLst/>
          </a:prstGeom>
          <a:solidFill>
            <a:srgbClr val="C48BC5"/>
          </a:solidFill>
          <a:ln w="12700">
            <a:solidFill>
              <a:srgbClr val="C48B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13732" y="1837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</a:rPr>
              <a:t>Домашние мастера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81901" y="111099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X – персонализация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Y – ценовой сегмент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Размер круга – ассортимент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1" y="1883664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0A18"/>
                </a:solidFill>
              </a:rPr>
              <a:t>For you sweet</a:t>
            </a:r>
            <a:r>
              <a:rPr lang="en-US" sz="1000" dirty="0">
                <a:solidFill>
                  <a:srgbClr val="030A18"/>
                </a:solidFill>
              </a:rPr>
              <a:t> – высокая персонализация по доступной цене
</a:t>
            </a:r>
            <a:r>
              <a:rPr lang="en-US" sz="1100" b="1" dirty="0">
                <a:solidFill>
                  <a:srgbClr val="030A18"/>
                </a:solidFill>
              </a:rPr>
              <a:t>СладкоПолезно</a:t>
            </a:r>
            <a:r>
              <a:rPr lang="en-US" sz="1000" dirty="0">
                <a:solidFill>
                  <a:srgbClr val="030A18"/>
                </a:solidFill>
              </a:rPr>
              <a:t> – ПП‑десерты, средний‑высокий чек
</a:t>
            </a:r>
            <a:r>
              <a:rPr lang="en-US" sz="1100" b="1" dirty="0">
                <a:solidFill>
                  <a:srgbClr val="030A18"/>
                </a:solidFill>
              </a:rPr>
              <a:t>Wildberries / Ozon</a:t>
            </a:r>
            <a:r>
              <a:rPr lang="en-US" sz="1000" dirty="0">
                <a:solidFill>
                  <a:srgbClr val="030A18"/>
                </a:solidFill>
              </a:rPr>
              <a:t> – широкий ассортимент, низкая персонализация
</a:t>
            </a:r>
            <a:r>
              <a:rPr lang="en-US" sz="1100" b="1" dirty="0">
                <a:solidFill>
                  <a:srgbClr val="030A18"/>
                </a:solidFill>
              </a:rPr>
              <a:t>Домашние мастера</a:t>
            </a:r>
            <a:r>
              <a:rPr lang="en-US" sz="1000" dirty="0">
                <a:solidFill>
                  <a:srgbClr val="030A18"/>
                </a:solidFill>
              </a:rPr>
              <a:t> – уникальный дизайн, ограниченные мощности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План реализации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280160" cy="731520"/>
          </a:xfrm>
          <a:prstGeom prst="chevron">
            <a:avLst/>
          </a:prstGeom>
          <a:solidFill>
            <a:srgbClr val="E4F4EA"/>
          </a:solidFill>
          <a:ln w="12700">
            <a:solidFill>
              <a:srgbClr val="B5C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Анализ рынка
</a:t>
            </a:r>
            <a:r>
              <a:rPr lang="en-US" sz="800" dirty="0">
                <a:solidFill>
                  <a:srgbClr val="444444"/>
                </a:solidFill>
              </a:rPr>
              <a:t>1 мес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097280"/>
            <a:ext cx="1280160" cy="731520"/>
          </a:xfrm>
          <a:prstGeom prst="chevron">
            <a:avLst/>
          </a:prstGeom>
          <a:solidFill>
            <a:srgbClr val="D2E3F3"/>
          </a:solidFill>
          <a:ln w="12700">
            <a:solidFill>
              <a:srgbClr val="B5C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7452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MVP-сайт
</a:t>
            </a:r>
            <a:r>
              <a:rPr lang="en-US" sz="800" dirty="0">
                <a:solidFill>
                  <a:srgbClr val="444444"/>
                </a:solidFill>
              </a:rPr>
              <a:t>2 мес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1280160" cy="731520"/>
          </a:xfrm>
          <a:prstGeom prst="chevron">
            <a:avLst/>
          </a:prstGeom>
          <a:solidFill>
            <a:srgbClr val="E4F4EA"/>
          </a:solidFill>
          <a:ln w="12700">
            <a:solidFill>
              <a:srgbClr val="B5C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4612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Производство
</a:t>
            </a:r>
            <a:r>
              <a:rPr lang="en-US" sz="800" dirty="0">
                <a:solidFill>
                  <a:srgbClr val="444444"/>
                </a:solidFill>
              </a:rPr>
              <a:t>3 мес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280160" cy="731520"/>
          </a:xfrm>
          <a:prstGeom prst="chevron">
            <a:avLst/>
          </a:prstGeom>
          <a:solidFill>
            <a:srgbClr val="D2E3F3"/>
          </a:solidFill>
          <a:ln w="12700">
            <a:solidFill>
              <a:srgbClr val="B5C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1772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Реклама
</a:t>
            </a:r>
            <a:r>
              <a:rPr lang="en-US" sz="800" dirty="0">
                <a:solidFill>
                  <a:srgbClr val="444444"/>
                </a:solidFill>
              </a:rPr>
              <a:t>4–6 мес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1280160" cy="731520"/>
          </a:xfrm>
          <a:prstGeom prst="chevron">
            <a:avLst/>
          </a:prstGeom>
          <a:solidFill>
            <a:srgbClr val="E4F4EA"/>
          </a:solidFill>
          <a:ln w="12700">
            <a:solidFill>
              <a:srgbClr val="B5C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8932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Масштабирование
</a:t>
            </a:r>
            <a:r>
              <a:rPr lang="en-US" sz="800" dirty="0">
                <a:solidFill>
                  <a:srgbClr val="444444"/>
                </a:solidFill>
              </a:rPr>
              <a:t>6–12 мес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1280160" cy="731520"/>
          </a:xfrm>
          <a:prstGeom prst="chevron">
            <a:avLst/>
          </a:prstGeom>
          <a:solidFill>
            <a:srgbClr val="D2E3F3"/>
          </a:solidFill>
          <a:ln w="12700">
            <a:solidFill>
              <a:srgbClr val="B5C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6092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Окупаемость
</a:t>
            </a:r>
            <a:r>
              <a:rPr lang="en-US" sz="800" dirty="0">
                <a:solidFill>
                  <a:srgbClr val="444444"/>
                </a:solidFill>
              </a:rPr>
              <a:t>12–24 мес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512064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Фаза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Критерии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Результат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Инициация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Утверждены цели, подписан договор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ТЗ и бюджет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Разработка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Готовы шаблоны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Рабочий сайт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Интеграция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Подключены платежи и CRM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Сайт без наполнения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Запуск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Сайт заполнен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Старт продаж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Маркетинг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Запущена реклама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Рост аудитории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Маркетинг и продажи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7FAFC"/>
          </a:solidFill>
          <a:ln w="12700">
            <a:solidFill>
              <a:srgbClr val="DDE4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1430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Продукт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371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Персонализированные десерты,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натуральные ингредиенты,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сезонные наборы SweetBox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00584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EAF3FB"/>
          </a:solidFill>
          <a:ln w="12700">
            <a:solidFill>
              <a:srgbClr val="DDE4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3440" y="11430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Цена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0640" y="1371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Value‑based pricing: 450–550 ₽/шт,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подписка 1 800 ₽/мес,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скидки для B2B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74320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7FAFC"/>
          </a:solidFill>
          <a:ln w="12700">
            <a:solidFill>
              <a:srgbClr val="DDE4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8803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Место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14400" y="3108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Сайт и Telegram‑бот,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Wildberries и Ozon,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партнёры (фитнес‑клубы, кофейни)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0" y="274320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EAF3FB"/>
          </a:solidFill>
          <a:ln w="12700">
            <a:solidFill>
              <a:srgbClr val="DDE4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3440" y="28803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Продвижение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120640" y="3108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SEO, контекстная реклама,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SMM и блог,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03030"/>
                </a:solidFill>
              </a:rPr>
              <a:t>программы лояльности и инфлюенсеры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Финансовая модель и риски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212080" y="10058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Показатели
</a:t>
            </a:r>
            <a:r>
              <a:rPr lang="en-US" sz="1000" dirty="0">
                <a:solidFill>
                  <a:srgbClr val="303030"/>
                </a:solidFill>
              </a:rPr>
              <a:t>NPV ≈ 0,28 млн ₽
IRR ≈ 28 %
PI ≈ 1,2
Окупаемость: 22 месяца
</a:t>
            </a:r>
            <a:r>
              <a:rPr lang="en-US" sz="1400" b="1" dirty="0">
                <a:solidFill>
                  <a:srgbClr val="030A18"/>
                </a:solidFill>
              </a:rPr>
              <a:t>Ключевые риски
</a:t>
            </a:r>
            <a:r>
              <a:rPr lang="en-US" sz="1000" dirty="0">
                <a:solidFill>
                  <a:srgbClr val="303030"/>
                </a:solidFill>
              </a:rPr>
              <a:t>• Подбор команды и соблюдение ТЗ
• Сбои в производстве/ИТ
• Задержка сроков и несоответствие ожиданиям
• Риск невыполнения плана продаж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377</Words>
  <Application>Microsoft Macintosh PowerPoint</Application>
  <PresentationFormat>Экран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3</cp:revision>
  <dcterms:created xsi:type="dcterms:W3CDTF">2025-10-15T18:05:12Z</dcterms:created>
  <dcterms:modified xsi:type="dcterms:W3CDTF">2026-05-09T15:14:56Z</dcterms:modified>
</cp:coreProperties>
</file>